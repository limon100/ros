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9대 헤테로지니어스 군집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Review (PRR) v1.1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Go2 + Hub UGV (듀얼 SBC) + 7 Follower UGV — 360° 감시·통합 SLAM·GStreamer SRT·OpenWrt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0" y="274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 |  v1.1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㈜스카이오토넷  /  군집제어형 소형 전술로봇 사업단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사업 개요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보병 분대 선두에서 위험을 흡수하고, 대드론 방호 + 정찰 + 교전 지원을 수행하는 9대 헤테로지니어스 군집. 단일 Android 태블릿 1대 + 운용병사 1인이 9대 편대를 통제한다.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가치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분대 선두 위험 흡수 — 보병 직접 접촉 최소화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대드론 방호 — RF 탐지 + 재밍 + 사격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360° 감시 — Leader 분배, Pan-tilt sweep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자율 회피 5-Tier — 통신 두절에도 임무 지속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Leader 승계 — Hub UGV 우선 자동 승계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103120"/>
            <a:ext cx="5669280" cy="4114800"/>
          </a:xfrm>
          <a:prstGeom prst="roundRect">
            <a:avLst>
              <a:gd name="adj" fmla="val 2222"/>
            </a:avLst>
          </a:prstGeom>
          <a:solidFill>
            <a:srgbClr val="EEEEE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→ v1.1 주요 변경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6060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360° 감시 영역 분배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Leader 10s 주기, F 전방 180°, Hub 후방 180°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Hub UGV 듀얼 SBC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SLAM 전용 + 통신/영상 전용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SLAM 1Hz → 30-60s 통합본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통신 부하 1/100, 대역폭 여유 확보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GStreamer UDP/SRT 영상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Android APP pull 방식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OpenWrt 24.10 Wi-Fi 6 Mesh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UGV LiDAR: Robosense E1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시스템 개관 — 9대 편대 구성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064240" cy="210312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3200400"/>
                <a:gridCol w="530352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플랫폼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임무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Unitree Go2 Pro/Edu Plus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전방 정점, 정찰·경로 선도, 1초 예측 broadcast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UGV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330kg 궤도형 UGV (듀얼 SBC)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 통합, 통신 허브, LTE 게이트웨이, Leader 승계 1순위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 UGV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330kg 궤도형 UGV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leg + 후위, RCWS / EO·IR / RF 재머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3383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V형 표준 편대 배치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794760"/>
            <a:ext cx="11064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Leader (Go2)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F1  ────────────┼────────────  F2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(좌측 전방)         │        (우측 전방)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F3  ───────────────────┼───────────────────  F4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F5 ────────────────────────┼──────────────────────── F6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H ← Hub UGV (중앙 후방, 듀얼 SBC)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F7 (후위)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핵심 성능 지표 (KPP) — 10종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064240" cy="512064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2286000"/>
                <a:gridCol w="5394960"/>
              </a:tblGrid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KPP 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달성 전략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대열 유지 평균 오차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1초 예측 broadcast + 5-Tier 자율 회피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근접 위험 회피 반응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1.5 자동 우회 + Nav2 local planner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 제어 통신 지연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150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6 Mesh (OpenWrt) + DDS RELIABLE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리더 이탈 재구성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 Raft + Hub UGV 우선 승계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집결 성공률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Hungarian slot assignment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드론 탐지 거리 (RF)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스캐너 + 360° 감시 분담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영상 전송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GStreamer SRT live latency=120ms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표적 분류 정확도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 (≤ 2s)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추론 + 360° Pan-tilt sweep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팬-틸트 추적 오차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0.05° (500m, 3m/s)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 기반 능동 stabilization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사격 명중률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 (150m, 45cm)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 사격점 + 자이로 안정화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운용 시나리오 (A → F)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집결 (Assembly)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 산개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임무 시작 시 robot 배치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전술 진입 (Move-in)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1열 종대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주둔지에서 작전 지역으로 이동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 정찰 (Recon)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V형 (60°)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광역 정찰 + 360° 감시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544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접근·교전 (Engage)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1208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1열 횡대 / V형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적과 대치, RCWS 운용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55448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고지 점령 (Hold)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다이아몬드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4251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거점 방어 + 후방 경계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983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55448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철수 (Withdraw)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1열 종대 (역순)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955280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복귀 또는 RTH 자동 진행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헤테로지니어스 아키텍처 — Hub UGV 듀얼 SBC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89920" y="38404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84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신규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UGV는 v1.1부터 듀얼 SBC 구조로 강화되어 9대 SLAM 통합 + 통신/영상 forwarding을 동시에 처리한다.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 #1 (SLAM 전용)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모델: Jetson Orin 또는 RK3588J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메모리: 16 GB LPDDR5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저장: 256 GB NVMe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주 작업: SLAM 통합 융합 (g2o)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보조: 글로벌 맵 broadcast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ROS2: slam_toolbox, multirobot_map_merge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30-60초 주기 SLAMAggregatedMap 발행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 #2 (통신/영상 전용)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19456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모델: RK3588J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메모리: 8 GB LPDDR5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저장: 128 GB NVMe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주 작업: Wi-Fi 6 Mesh + LTE 게이트웨이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보조: GStreamer SRT/UDP forwarding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DDS Security AES-256-GCM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Wi-Fi 단절 시 mwan3 8s LTE failover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 GbE ──►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통신 인프라 — OpenWrt 24.10 Wi-Fi 6 Mesh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89920" y="38404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84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신규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06424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097280"/>
                <a:gridCol w="1371600"/>
                <a:gridCol w="18288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프로토콜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대역폭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주통신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802.11ax (OpenWrt 24.10)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5-20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100-300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군집 내부 실시간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광역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Military LTE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10-50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50-100 Mbps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+ 영상 백홀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920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 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100-500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0.3-50 Kbps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긴급 정지, 위치 비콘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3017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OpenWrt 24.10 핵심 구성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34747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Mesh: 802.11s + batman-adv BATMAN V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 Steering: DAWN (Decentralized)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Multicast: multicast_mode=1, igmp_snooping=1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WAN Failover: mwan3 (8s detect)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34747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QoS: SQM cake + nftables DSCP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DSCP: FollowerTarget→EF, Status→AF31, Video→AF21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Security: WPA3-SAE + WireGuard (Phase F+)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Hardware: GL.iNet Flint AX1800 (PoC) / Compex WPJ563 (양산)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Behavior Tree + 5-Tier 자율 회피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064240" cy="3657600"/>
        </p:xfrm>
        <a:graphic>
          <a:graphicData uri="http://schemas.openxmlformats.org/drawingml/2006/table">
            <a:tbl>
              <a:tblPr/>
              <a:tblGrid>
                <a:gridCol w="731520"/>
                <a:gridCol w="2560320"/>
                <a:gridCol w="3657600"/>
                <a:gridCol w="4114800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트리거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PREDICTIVE_TRACK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1초 예측 위치 정상 수신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 위치 추종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AUTO_REROUTE (신규)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 위치 직전 장애물 검출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±2m 측방 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 미수신, 통신 정상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Body-frame offset PID 추종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CATCH_UP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&gt; 1.5 d₀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1.2배 가속 추종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HARD_CATCH_UP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&gt; 2 d₀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최대 속도 추종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BREADCRUMB_RECOVERY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&gt; 4 d₀ 또는 60초 통신 두절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과거 경로 복귀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1초 예측 위치 broadcast (10Hz) + Tier 1.5 자동 ±2m 우회로 KPP 300ms 만족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1초 예측 위치 Broadcast — 핵심 매커니즘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0642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11064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0       Leader가 1초 후 위치 계산 (Hybrid A* lookahead)
                └─→ FollowerTargetMessage (10Hz, /swarm/predict/follower_target)
    t = 50ms    Hub UGV 도달 (Wi-Fi 6 직접 1-hop)
    t = 150ms   Follower 수신 (최악, mesh 다중경로)
                ↑─── 850ms 마진 ───↓
    t = 1000ms  Follower가 예측 위치 도달 목표
                T1.5 trigger 시 ±2m 측방 우회 후 다음 사이클 복귀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KPP 직결 매커니즘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KPP-1 (대열 ≤ 2m): 1초 예측으로 follower가 leader 가속·곡선·정지 자동 추종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KPP-2 (회피 ≤ 300ms): 850ms 마진으로 T1.5 측방 우회 시간 확보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KPP-3 (통신 ≤ 150ms): RELIABLE + KEEP_LAST(3), Wi-Fi6 Mesh deadline 200ms 보장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메시지 크기: 약 200 byte (50 byte × 4 path samples) — 통신 부하 미미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9 대형 종류 + Hungarian Slot Assignment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대형 표준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064240" cy="18288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3200400"/>
                <a:gridCol w="365760"/>
                <a:gridCol w="1828800"/>
                <a:gridCol w="374904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1열 종대 (협로)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Echelon-R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측방 경계 (우)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1열 횡대 (탐색)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정사각 (정지)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정찰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Vee-Inv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전방 매복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전방향 경계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자유 산개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Echelon-L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측방 경계 (좌)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474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Algorithm (Slot Assignment)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3931920"/>
            <a:ext cx="1106424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scipy.optimize import linear_sum_assignment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assign_slots(current_poses, target_offsets):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len(current_poses)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= np.zeros((n, n))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pose in enumerate(current_poses):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j, offset in enumerate(target_offsets):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target = (pose.x + offset[0], pose.y + offset[1])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cost[i][j] = math.hypot(target[0] - pose.x, target[1] - pose.y)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dict(zip(*linear_sum_assignment(cost)))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Leader 승계 — Modified Raft (Hub UGV 1순위)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(Go2) 탈락 시 Hub UGV가 우선 승계 — 듀얼 SBC, LTE 백홀, 후방 거점 위치의 안정성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승계 우선순위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1: is_hub_ugv (절대 우선)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2: battery_pct (≥ 50% 우선)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3: sensor_health (LiDAR + Camera + RF 정상)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4: comm_centrality (mesh hop 거리 1순위)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5: robot_id (tie-breaker)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재구성 시간 (KPP ≤ 10s)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0312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      Leader 탈락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t+0.6s   DDS Liveliness LOST callback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t+0.7s   RequestVote broadcast (priority)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t+0.8s   각 robot이 Hub UGV에 vote_granted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t+0.9s   Hub UGV quorum 달성, LEADER 전환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t+1.0s   Hub UGV 발행 시작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(FollowerTarget 10Hz, Sector 10s)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t+2.0s   Tablet UI: "Hub Leader" 표시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 재구성 시간: ~2초 (KPP 5x 마진)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센서 — Robosense E1 LiDAR + EO/IR + RF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89920" y="38404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84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신규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선정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06424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539496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(Go2)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 / Hub UGV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Unitree L1 (내장)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Robosense E1 (solid-state)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Multi-line mechanical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Solid-state, 905nm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 (typical)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 (10% reflectivity)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360° × ±30°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120° × 25°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점군 밀도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200,000 pts/s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921,600 pts/s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 g (내장)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가격 (양산)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Go2 패키지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~$200-500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Robosense E1 채택 근거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53035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Solid-state — 가동부 없어 군용 진동·충격 환경에 강함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200m 거리 — 광역 정찰 + RF 스캐너 cross-validation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무게 600g + 가격 $200-500 — 양산 경쟁력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한국 공급 (커널로보틱스) 확보 용이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360° 감시 영역 분배 — Leader 10초 주기 할당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89920" y="38404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84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신규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9대 편대의 360° 감시를 Leader가 동적으로 분담. 위협 식별·follower 탈락 시 즉시 재할당.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064240" cy="41148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828800"/>
                <a:gridCol w="22860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담당 방위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중심 방위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 모드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-30° ~ +30°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 (전방)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(1x Wide)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정찰 + 진로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-90° ~ -30°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좌측 전방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+30° ~ +90°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우측 전방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-120° ~ -60°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좌측 측방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+60° ~ +120°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우측 측방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-150° ~ -90°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좌측 후측방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+90° ~ +150°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우측 후측방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UGV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+150° ~ -150°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+180° (후방)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후방 180°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동적 보강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동적 결정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30°/s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보조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 주기: 10초 (default) + 즉시 이벤트 (대형 전환·위협 식별·follower 탈락)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SLAM 통합 수집 — 30-60초 주기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89920" y="38404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84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신규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(1Hz) → v1.1 (30-60s 통합본): 통신 부하 1/100 감소, 1초 예측 broadcast 대역폭 확보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064240" cy="256032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634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 (1 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 (30-60s 통합본)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2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통신 부하 (9대)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90-360 KB/s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KB/s (1/100 감소)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SBC #1 부하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지속 100% busy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주기 10-20% busy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글로벌 맵 갱신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1초 (과도)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30-60초 (정찰 충분)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실시간 회피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글로벌 맵 의존 (부적합)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로컬 SLAM/Nav2 (적합)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대역폭 여유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낮음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1초 예측 broadcast에 여유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297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 동적 조정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4754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광역 정찰 (개활지): 60초 — 지형 변화 적음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일반 임무 (default): 30초 — 균형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도심·실내 침투: 15초 — 빠른 갱신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대형 전환 후: 즉시 (1회) — 신 대형 맵 정렬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장애물 다발: 10초 일시 단축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영상 스트리밍 — GStreamer UDP/SRT + Android Pull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89920" y="384048"/>
            <a:ext cx="822960" cy="274320"/>
          </a:xfrm>
          <a:prstGeom prst="roundRect">
            <a:avLst>
              <a:gd name="adj" fmla="val 2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3840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신규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KPP 「실시간 영상 ≤ 200ms」 — SRT live latency=120ms tune으로 안정적 달성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06424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(robot 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SRT (운용자, 채택)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최저 (~50ms)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200-500ms (buffer)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패킷 손실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없음 (화면 깨짐)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재전송 (ARQ)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암호화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별도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내장 AES-128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방화벽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어려움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수월 (1포트)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023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요청 흐름 (Pull 방식)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" y="4434840"/>
            <a:ext cx="11064240" cy="20574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480560"/>
            <a:ext cx="109728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[Android APP]                  [Hub UGV SBC#2]              [Target Follower]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1. VideoStreamRequest           │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├────────────────────────────────►│ 2. start_stream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{target, srt, h265, hd}        ├────────────────────────────────►│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                           │  3. SRT stream (forward)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4. VideoStreamHandle              │◄─────────────────────────────────┤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│◄─────────────────────────────────┤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{srt_uri, key, bitrate}        │  5. SRT 수신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│◄═══════════════════════════════════════════════════════════════════│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6. VideoStreamStop                │ 7. stop_stream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├────────────────────────────────►├────────────────────────────────►│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 Mission Behavior Tree (전체 구조)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064240" cy="530352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Root: Fallback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EmergencyHandler (P0)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ManualOverride (P1)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DegradedHealth (P2)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BatteryCritical (P3, ≤30% Hub UGV 승계 트리거)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NormalMissionFlow (default)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PreCheck (PTP, RTK, SLAM, Sensors)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ResolveRole (Leader / Hub / Follower)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ExecuteRoleAction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If Leader: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PlanGlobalPath (Hybrid A*)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PublishBreadcrumb (1m/0.5s)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Publish1sPrediction (10Hz)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ManageFormation (Hungarian)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└── DispatchSurveillanceSectors (10s) ★ v1.1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If Hub UGV: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Aggregate SLAM (SBC #1, 30-60s)         ★ v1.1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Broadcast Global Map (SLAMAggregatedMap)  ★ v1.1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├── Forward Video Stream (SBC #2)             ★ v1.1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│   └── Survey Rear 180° (Pan-tilt sweep)         ★ v1.1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If Follower: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├── TrackLeaderPredictedPose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├── ApplyTierAwareMotionLimit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    └── ExecuteSurveillanceSector (Sweep 30°/s)   ★ v1.1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CheckTier (T0→T4)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ApplyTierAction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 인터페이스 정의 명세서 (IDS) — 35 메시지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(31 메시지) → v1.1 (35 메시지): +4 신규, 2 수정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06424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4389120"/>
                <a:gridCol w="4114800"/>
              </a:tblGrid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카테고리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메시지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 변경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§3 명령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FormationCommand, FireAuth, EmergencyStop,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+1: VideoStreamRequest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 텔레메트리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RobotStatus, FormationStatus, DetectedObject,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수정: VideoStreamHandle (SRT)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§5 로봇 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FollowerTarget, SLAMLocal, Breadcrumb,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+3: SectorAssign, PanTilt, AggregatedMap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수정: SLAMLocalDelta (30-60s)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 인프라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TopicCatalog, SecurityHandshake, TimeSync,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Protobuf v3 + ROS 2 .msg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3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 (31) + 4 신규 + 2 수정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QoS: P0 Critical (100ms) / P1 Tactical (200ms) / P2 Operational (1s) / P3 Background (5s)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 통합 시험 시나리오 (TST) — 48 시나리오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(42) + S15 신규 6개 = v1.1 (48 시나리오)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06424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3200400"/>
                <a:gridCol w="48463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기능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핵심 기능 동작 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KPP 검증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 + 실로봇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10종 KPP 정량 측정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스트레스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통신 두절, 재밍, 다중 장애물 극한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회귀 (CI)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기능 유지 자동 검증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Gazebo Harmonic + 실로봇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023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 v1.1 신규 시나리오 (6개)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443484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S15-1: 9대 편대 360° 감시 분배 정확성 (Gazebo W5 mixed_combat)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S15-2: Pan-tilt sweep 시 표적 검출률 KPP 90% (Gazebo W2 forest)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S15-3: Hub SBC #1/#2 장애 시 부분 운용 (Gazebo W1 open_field)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S15-4: SLAM 30/60초 주기 글로벌 맵 정합성 ≤ 0.5m (Gazebo W3 urban)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S15-5: GStreamer SRT 200ms 지연 KPP (실로봇 LTE 환경)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S15-6: 다중 follower 영상 동시 모니터링 (실로봇 운용자 APP)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 안전 + 보안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DDS-Security + 인적 결정 + 분실 시 즉시 키 폐기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DDS-Security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AuthN: PKI X.509 v3, RSA 4096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Encryption: AES-256-GCM (DDS)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Video: SRT 내장 AES-128 (passphrase 임무별)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Access Control: Permissions Document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Key: Hub UGV TPM, 임무별 갱신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분실 시: 「Compromise」 → 즉시 CRL broadcast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463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 (Safety)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192024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Fire Authorization: 인적 PIN 필수, 자동 발사 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EmergencyStop: LoRa fallback 즉시 가능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GPS 재밍: DR → LiDAR SLAM → Tier 4 자율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통신 두절: T1.5 → T2 → T3 → T4 → RTH 자동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Leader 탈락: Hub UGV 우선 승계 (~2초)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Hub 듀얼 SBC: 부분 운용 가능 (한쪽 장애 OK)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 v1.0 → v1.1 변경 요약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064240" cy="4114800"/>
        </p:xfrm>
        <a:graphic>
          <a:graphicData uri="http://schemas.openxmlformats.org/drawingml/2006/table">
            <a:tbl>
              <a:tblPr/>
              <a:tblGrid>
                <a:gridCol w="365760"/>
                <a:gridCol w="3200400"/>
                <a:gridCol w="2103120"/>
                <a:gridCol w="5394960"/>
              </a:tblGrid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사항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영향 문서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관련 메시지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360° 감시 영역 분배 (10s 주기)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§8, SUR §3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SurveillanceSectorAssignment ★, PanTiltCommand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UGV 듀얼 SBC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§3, SUR §4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(아키텍처)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 1Hz → 30-60s 통합본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§9, SUR §5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SLAMLocalDelta (수정), SLAMAggregatedMap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GStreamer UDP/SRT (Android pull)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§10, SUR §6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VideoStreamRequest ★, VideoStreamHandle (수정)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OpenWrt 24.10 Wi-Fi 6 Mesh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§5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(인프라)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UGV LiDAR Robosense 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 §4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(센서)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 효과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통신 부하 1/100 감소 (SLAM 90-360 KB/s → 1-3 KB/s)    ▸ Hub SBC 부하 100% → 10-20%    ▸ 영상 200ms KPP 달성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 v1.1 산출물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698480" y="6400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06424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1097280"/>
                <a:gridCol w="3108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문서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SAN-PRD-SRR-001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Requirements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 PPTX (22 슬라이드)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SAN-SDD-SWARM-001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통합 SDD (Unified Swarm SDD)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29 페이지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SAN-SDD-SUR-001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보조 SDD (감시·SLAM·영상)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19 페이지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SAN-IDS-CMD-001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인터페이스 명세서 (35 메시지)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19 페이지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SAN-TST-INT-001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통합 시험 시나리오 (48종)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24 페이지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SAN-OPS-SOP-001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운용병사 SOP 카드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13 페이지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총합: 6 문서 (1 PPTX + 5 DOCX) + 모든 PDF 변환본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SAN-PRD-SRR-001 v1.1  |  ㈜스카이오토넷  /  군집제어형 소형 전술로봇 사업단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PRD v1.1</dc:title>
  <dc:subject>PptxGenJS Presentation</dc:subject>
  <dc:creator>PptxGenJS</dc:creator>
  <cp:lastModifiedBy>PptxGenJS</cp:lastModifiedBy>
  <cp:revision>1</cp:revision>
  <dcterms:created xsi:type="dcterms:W3CDTF">2026-05-11T02:47:03Z</dcterms:created>
  <dcterms:modified xsi:type="dcterms:W3CDTF">2026-05-11T02:47:03Z</dcterms:modified>
</cp:coreProperties>
</file>